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45300"/>
            <a:ext cx="92206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  <a:latin typeface="Bodoni MT" panose="02070603080606020203" pitchFamily="18" charset="0"/>
              </a:rPr>
              <a:t>DELIVERY ANALYTICS</a:t>
            </a:r>
            <a:r>
              <a:rPr lang="en-IN" sz="4600" b="1" i="0" dirty="0">
                <a:solidFill>
                  <a:srgbClr val="FFFFFF"/>
                </a:solidFill>
                <a:latin typeface="Bodoni MT" panose="02070603080606020203" pitchFamily="18" charset="0"/>
              </a:rPr>
              <a:t>(BLINKIT)</a:t>
            </a:r>
            <a:endParaRPr sz="4600" b="1" i="0" dirty="0">
              <a:solidFill>
                <a:srgbClr val="FFFFFF"/>
              </a:solidFill>
              <a:latin typeface="Bodoni MT" panose="0207060308060602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25146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FFCC55"/>
                </a:solidFill>
                <a:latin typeface="Bodoni MT" panose="02070603080606020203" pitchFamily="18" charset="0"/>
              </a:rPr>
              <a:t>Dashboard Review — Analysis, Insights &amp; 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8259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AABBCC"/>
                </a:solidFill>
                <a:latin typeface="Bodoni MT" panose="02070603080606020203" pitchFamily="18" charset="0"/>
              </a:rPr>
              <a:t>Quick Commerce | Customer Experience | Operational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4389120"/>
            <a:ext cx="1737360" cy="868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4443983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  <a:latin typeface="Calibri"/>
              </a:rPr>
              <a:t>17.04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4864608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AABBCC"/>
                </a:solidFill>
                <a:latin typeface="Bodoni MT" panose="02070603080606020203" pitchFamily="18" charset="0"/>
              </a:rPr>
              <a:t>Avg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4389120"/>
            <a:ext cx="1737360" cy="868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22992" y="4443983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  <a:latin typeface="Calibri"/>
              </a:rPr>
              <a:t>42.50%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2992" y="4864608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AABBCC"/>
                </a:solidFill>
                <a:latin typeface="Bodoni MT" panose="02070603080606020203" pitchFamily="18" charset="0"/>
              </a:rPr>
              <a:t>On-Time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5394960"/>
            <a:ext cx="1737360" cy="868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544982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  <a:latin typeface="Calibri"/>
              </a:rPr>
              <a:t>63.03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5870448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  <a:latin typeface="Bodoni MT" panose="02070603080606020203" pitchFamily="18" charset="0"/>
              </a:rPr>
              <a:t>CSAT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5394960"/>
            <a:ext cx="1737360" cy="868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22992" y="544982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  <a:latin typeface="Calibri"/>
              </a:rPr>
              <a:t>₹951.91K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5870448"/>
            <a:ext cx="1554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  <a:latin typeface="Bodoni MT" panose="02070603080606020203" pitchFamily="18" charset="0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Calibri"/>
              </a:rPr>
              <a:t>Prepared for Interview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ED8D0-98AF-A037-DF64-2EA78FB7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CF7F55-9508-3CBC-2889-996312B1CCBF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2FE9D8-243D-BB18-5435-77566AEDB490}"/>
              </a:ext>
            </a:extLst>
          </p:cNvPr>
          <p:cNvSpPr txBox="1"/>
          <p:nvPr/>
        </p:nvSpPr>
        <p:spPr>
          <a:xfrm>
            <a:off x="4054653" y="0"/>
            <a:ext cx="40795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6000" b="1" i="0" dirty="0">
                <a:solidFill>
                  <a:srgbClr val="FFFFFF"/>
                </a:solidFill>
                <a:latin typeface="Bodoni MT" panose="02070603080606020203" pitchFamily="18" charset="0"/>
              </a:rPr>
              <a:t>Dashboard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D45A8EA-77CC-7A29-1D59-0FBC99685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04" y="1098144"/>
            <a:ext cx="10112616" cy="558594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8140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  <a:latin typeface="Calibri"/>
              </a:rPr>
              <a:t>Key Performance Indicators — What the numbers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657600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075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88BFD"/>
                </a:solidFill>
                <a:latin typeface="Calibri"/>
              </a:rPr>
              <a:t>17.04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106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Avg Delivery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22154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Industry standard is 20</a:t>
            </a:r>
            <a:r>
              <a:rPr lang="en-IN" sz="1400" dirty="0">
                <a:solidFill>
                  <a:srgbClr val="64748B"/>
                </a:solidFill>
                <a:latin typeface="Bodoni MT" panose="02070603080606020203" pitchFamily="18" charset="0"/>
              </a:rPr>
              <a:t>-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30 min. Performing well.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1430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33672" y="1143000"/>
            <a:ext cx="3657600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98264" y="13075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53E3E"/>
                </a:solidFill>
                <a:latin typeface="Calibri"/>
              </a:rPr>
              <a:t>42.50%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0106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On-Time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422154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Only 4 in 10 orders arrive on time. Critical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1430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93024" y="1143000"/>
            <a:ext cx="3657600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6" y="130759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53E3E"/>
                </a:solidFill>
                <a:latin typeface="Calibri"/>
              </a:rPr>
              <a:t>26.77%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0106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Complaint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22154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1 in 4 customers raise a complaint. Too high.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0332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867911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Calibri"/>
              </a:rPr>
              <a:t>13.15%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57099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Cancellation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982474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Above 10% threshold. Needs attention.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70332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33672" y="3703320"/>
            <a:ext cx="36576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3867911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₹574.26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457099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AOV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4982474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Healthy average order value. Good monetization.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370332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93024" y="3703320"/>
            <a:ext cx="36576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7616" y="3867911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₹951.91K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570993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Total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982474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Strong revenue base across all cities.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ANALYSIS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  <a:latin typeface="Calibri"/>
              </a:rPr>
              <a:t>Reading the story behind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4008" cy="14630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Delivery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225" y="1629538"/>
            <a:ext cx="11155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The business delivers in 17 minutes on average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faster than most competitors. But only 42.5% of orders are on time, meaning the speed average is being pulled up by a minority of fast deliveries while the majority are delayed. This gap between speed and reliability is the central operational challenge.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64008" cy="14630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Customer Complaints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225" y="3458338"/>
            <a:ext cx="11155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 26.77% complaint rate is a serious signal. App issues and missing items (83 each) top the list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these are both tech and fulfillment problems happening simultaneously. Packaging and wrong items add to the pile. Together, these aren't random incidents; they point to broken SOPs at the packing and dispatch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54880"/>
            <a:ext cx="64008" cy="1463040"/>
          </a:xfrm>
          <a:prstGeom prst="rect">
            <a:avLst/>
          </a:prstGeom>
          <a:solidFill>
            <a:srgbClr val="D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Churn &amp;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225" y="5287138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The most alarming finding: 66.27% of customers are churned. Only 5.7% are highly active. The majority of the customer base has already walked away. This isn't just a retention problem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it's a sign that first-time buyers aren't being converted into loyal users, likely due to bad early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ANALYSIS &amp; INTERPRETATION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  <a:latin typeface="Calibri"/>
              </a:rPr>
              <a:t>City-level patterns, CSAT, and order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394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394960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939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On-Time vs Late </a:t>
            </a:r>
            <a:r>
              <a:rPr lang="en-IN" sz="2000" b="1" dirty="0">
                <a:solidFill>
                  <a:srgbClr val="0D1B2A"/>
                </a:solidFill>
                <a:latin typeface="Bodoni MT" panose="02070603080606020203" pitchFamily="18" charset="0"/>
              </a:rPr>
              <a:t>- </a:t>
            </a:r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City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078"/>
            <a:ext cx="5120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Jaipur leads with the worst on-time performance (90 late vs 150 on-time). Ahmedabad and Bengaluru show better ratios. Larger metros like Kolkata, Hyderabad and Pune have high absolute late volumes. City-wise SLA breaches suggest logistics infrastructure isn't scaling uniformly across markets.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05840"/>
            <a:ext cx="5943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0" y="1005840"/>
            <a:ext cx="5943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261939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CSAT Score </a:t>
            </a:r>
            <a:r>
              <a:rPr lang="en-IN"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-</a:t>
            </a:r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 63.03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73078"/>
            <a:ext cx="5577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 score of 63 out of 100 is a passing grade</a:t>
            </a:r>
            <a:r>
              <a:rPr lang="en-IN"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“</a:t>
            </a:r>
            <a:r>
              <a:rPr lang="en-IN" sz="1600" b="1" dirty="0">
                <a:solidFill>
                  <a:srgbClr val="64748B"/>
                </a:solidFill>
                <a:latin typeface="Bodoni MT" panose="02070603080606020203" pitchFamily="18" charset="0"/>
              </a:rPr>
              <a:t>barely</a:t>
            </a:r>
            <a:r>
              <a:rPr lang="en-IN"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"</a:t>
            </a:r>
            <a:r>
              <a:rPr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. In the quick commerce space, leading players like Blinkit and </a:t>
            </a:r>
            <a:r>
              <a:rPr sz="1600" b="0" i="0" dirty="0" err="1">
                <a:solidFill>
                  <a:srgbClr val="64748B"/>
                </a:solidFill>
                <a:latin typeface="Bodoni MT" panose="02070603080606020203" pitchFamily="18" charset="0"/>
              </a:rPr>
              <a:t>Zepto</a:t>
            </a:r>
            <a:r>
              <a:rPr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consistently target CSAT above 80. A score below 70 typically correlates with high churn, which the 66% churn rate confirms. The CSAT score is a lagging indicator</a:t>
            </a:r>
            <a:r>
              <a:rPr lang="en-IN"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 </a:t>
            </a:r>
            <a:r>
              <a:rPr sz="16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the real damage has already happened.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972" y="3781043"/>
            <a:ext cx="116128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128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🛒  Order Categories </a:t>
            </a:r>
            <a:r>
              <a:rPr lang="en-IN" sz="1600" b="1" dirty="0">
                <a:solidFill>
                  <a:srgbClr val="0D1B2A"/>
                </a:solidFill>
                <a:latin typeface="Bodoni MT" panose="02070603080606020203" pitchFamily="18" charset="0"/>
              </a:rPr>
              <a:t>- </a:t>
            </a:r>
            <a:r>
              <a:rPr sz="16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Revenue Diversification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548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1B2A"/>
                </a:solidFill>
                <a:latin typeface="Bodoni MT" panose="02070603080606020203" pitchFamily="18" charset="0"/>
              </a:rPr>
              <a:t>Baby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8203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High-trust, repeat purchase. Demands near-perfect reliability. Any complaint here is deeply damaging.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8548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Bodoni MT" panose="02070603080606020203" pitchFamily="18" charset="0"/>
              </a:rPr>
              <a:t>Beverages &amp; Dairy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8203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Freshness-sensitive. Late delivery directly impacts quality. Temperature control is implicit SLA.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8548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Bodoni MT" panose="02070603080606020203" pitchFamily="18" charset="0"/>
              </a:rPr>
              <a:t>Grocery &amp; Essentials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82038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Highest frequency category. Most likely source of missing-item complaints. Inventory accuracy critical.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✅  WHAT'S WORKING —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FFE0"/>
                </a:solidFill>
                <a:latin typeface="Calibri"/>
              </a:rPr>
              <a:t>Genuine competitive advantages worth protecting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09160" y="1207007"/>
            <a:ext cx="1097280" cy="347472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4709160" y="120700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66A34"/>
                </a:solidFill>
                <a:latin typeface="Calibri"/>
              </a:rPr>
              <a:t>17.04 min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07007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Fast Delivery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627631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17 minutes average delivery is genuinely impressive. This speed, if made consistent, becomes the brand's strongest marketing claim. Speed is a hard thing to build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you already have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64008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98480" y="1207007"/>
            <a:ext cx="1097280" cy="347472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10698480" y="120700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66A34"/>
                </a:solidFill>
                <a:latin typeface="Calibri"/>
              </a:rPr>
              <a:t>AOV ₹574.26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207007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Healthy Average Order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627631"/>
            <a:ext cx="5394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An AOV of ₹574 means customers are not just buying one item per order. This is healthy basket behavior, suggesting cross-category discovery is working. Strong foundation for upsell and subscription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64008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60" y="3310128"/>
            <a:ext cx="1097280" cy="347472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310128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66A34"/>
                </a:solidFill>
                <a:latin typeface="Calibri"/>
              </a:rPr>
              <a:t>10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310128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Wide City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730752"/>
            <a:ext cx="5394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Operating across Jaipur, Kolkata, Hyderabad, Pune, Lucknow, Chennai, Mumbai, Delhi, Bengaluru, Ahmedabad shows strong geographic ambition. Multi-city presence creates network scale and data diversity.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20040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200400"/>
            <a:ext cx="64008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98480" y="3310128"/>
            <a:ext cx="1097280" cy="347472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0" y="3310128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6A34"/>
                </a:solidFill>
                <a:latin typeface="Calibri"/>
              </a:rPr>
              <a:t>7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310128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Diversified Category Mix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730752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Covering Baby Care, Beverages, Dairy, Grocery, Essentials, Personal Care and Snacks reduces revenue concentration risk. No single category failure can sink the business.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349240"/>
            <a:ext cx="6126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520" y="534924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09560" y="5458968"/>
            <a:ext cx="1097280" cy="347472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5458968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66A34"/>
                </a:solidFill>
                <a:latin typeface="Calibri"/>
              </a:rPr>
              <a:t>₹951.91K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2112" y="5458968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Revenue 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5879592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₹951.91K in total final price shows a real, active business. This is a working revenue engine — the challenge is making it more efficient and customer-friendly, not building from scratch.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❌  WHAT'S BROKEN — 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  <a:latin typeface="Calibri"/>
              </a:rPr>
              <a:t>Honest assessment of the gaps that are costing customers and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26280" y="1188720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188720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F1D1D"/>
                </a:solidFill>
                <a:latin typeface="Calibri"/>
              </a:rPr>
              <a:t> High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07007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Only 42.5% On-Time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705962"/>
            <a:ext cx="5413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Fewer than half of all orders reach customers on time. This is not an edge case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it's the norm. The fast average speed is misleading; it masks widespread late deliveries across most cities.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0" y="1188720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1188720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F1D1D"/>
                </a:solidFill>
                <a:latin typeface="Calibri"/>
              </a:rPr>
              <a:t> High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207007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26.77% Complaint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705962"/>
            <a:ext cx="5413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More than 1 in 4 customers is unhappy enough to raise a complaint. Top drivers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are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App Issues, Missing Items, Packaging — all point to execution failures, not external factors.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" y="3014907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063240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063240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7F1D1D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7F1D1D"/>
                </a:solidFill>
                <a:latin typeface="Calibri"/>
              </a:rPr>
              <a:t>Critical</a:t>
            </a:r>
            <a:endParaRPr sz="1000" b="1" i="0" dirty="0">
              <a:solidFill>
                <a:srgbClr val="7F1D1D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8912" y="308152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66.27% Churn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580482"/>
            <a:ext cx="5413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Two-thirds of customers have already churned. This is the most dangerous metric. Acquiring a customer costs 5–7x more than retaining them. The leaky bucket is losing faster than it's filling.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97180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97180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0" y="3063240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3063240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F1D1D"/>
                </a:solidFill>
                <a:latin typeface="Calibri"/>
              </a:rPr>
              <a:t> High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08152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App Issues = #1 Complaint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580482"/>
            <a:ext cx="5413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App problems tied with missing items at 83 complaints each. A broken app in a digital-first business is a fundamental trust breach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 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customers who can't track or reorder simply don't come 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4632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84632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26280" y="4977908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94842" y="5002214"/>
            <a:ext cx="1931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7F1D1D"/>
                </a:solidFill>
                <a:latin typeface="Calibri"/>
              </a:rPr>
              <a:t> Medium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95604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13.15% Cancellation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5516224"/>
            <a:ext cx="5413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Bodoni MT" panose="02070603080606020203" pitchFamily="18" charset="0"/>
              </a:rPr>
              <a:t>1 in 8 orders is cancelled before delivery. Whether customer-initiated or platform-side, each cancellation is lost revenue plus wasted logistics cost. At scale, this is a significant margin leak.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84632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84632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15600" y="4937759"/>
            <a:ext cx="1280160" cy="347472"/>
          </a:xfrm>
          <a:prstGeom prst="rect">
            <a:avLst/>
          </a:prstGeom>
          <a:solidFill>
            <a:srgbClr val="FFEDED"/>
          </a:solidFill>
          <a:ln w="381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0" y="4937759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F1D1D"/>
                </a:solidFill>
                <a:latin typeface="Calibri"/>
              </a:rPr>
              <a:t>High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495604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  CSAT Below 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1" y="5455001"/>
            <a:ext cx="54132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 CSAT of 63 means 37% of customers had an experience they wouldn't call satisfying. Combined with high churn, this confirms that unhappy experiences aren't isolated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they're the standard experience for a large segment.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💡 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  <a:latin typeface="Calibri"/>
              </a:rPr>
              <a:t>Targeted fixes for real problems — not generic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5183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" cy="171907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246888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9" y="245592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4748B"/>
                </a:solidFill>
                <a:latin typeface="Bodoni MT" panose="02070603080606020203" pitchFamily="18" charset="0"/>
              </a:rPr>
              <a:t>Addresses: App Issues,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8872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Fix App Before Running More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5" y="1553340"/>
            <a:ext cx="5605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App issues are the #1 complaint. Before spending on customer acquisition, run a dedicated 2-week app stability sprint. Every new customer acquired to a broken app just accelerates churn. Fix the funnel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64008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28231" y="246888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Bodoni MT" panose="02070603080606020203" pitchFamily="18" charset="0"/>
              </a:rPr>
              <a:t>Addresses: On-Time Rate, CSAT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18872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2A"/>
                </a:solidFill>
                <a:latin typeface="Bodoni MT" panose="02070603080606020203" pitchFamily="18" charset="0"/>
              </a:rPr>
              <a:t>'Delivery Promise' Visible at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0" y="1600200"/>
            <a:ext cx="56052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Show the real estimated delivery window at cart stage 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and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not the best-case 17 min. Under-promise and over-deliver. Customers who get accurate ETAs don't feel cheated even if delivery takes 25 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64008" cy="17190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434340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4748B"/>
                </a:solidFill>
                <a:latin typeface="Bodoni MT" panose="02070603080606020203" pitchFamily="18" charset="0"/>
              </a:rPr>
              <a:t>Addresses: Late Deliveries by 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06324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City-Specific Delivery SLA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" y="3474720"/>
            <a:ext cx="56052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Jaipur and other high-late cities need localized logistics fixes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,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better dark store placement, more delivery partners, or adjusted radius. One-size-fits-all SLA doesn't work across 10 cities.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97180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971800"/>
            <a:ext cx="64008" cy="17190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28231" y="434340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34340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Bodoni MT" panose="02070603080606020203" pitchFamily="18" charset="0"/>
              </a:rPr>
              <a:t>Addresses: Missing/Wrong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06324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Packing Checklist QR Scan Before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2" y="3406696"/>
            <a:ext cx="5605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Missing items and wrong items account for 151 complaints. Introduce a mandatory QR scan of each item against the order before sealing the bag. Costs 30 seconds per order. Eliminates a category of complaints entirely.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4632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846320"/>
            <a:ext cx="64008" cy="17190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" y="621792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4748B"/>
                </a:solidFill>
                <a:latin typeface="Bodoni MT" panose="02070603080606020203" pitchFamily="18" charset="0"/>
              </a:rPr>
              <a:t>Addresses: 66% Churn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937759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Win-Back Campaign for At-Risk 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" y="5307091"/>
            <a:ext cx="5605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15% of users are classified 'At Risk’ 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as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they haven't churned yet. A personalized push (free delivery, small discount, or 'We missed you') sent at the right moment costs very little and can pull them back before they go cold.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846320"/>
            <a:ext cx="5669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846320"/>
            <a:ext cx="64008" cy="17190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28231" y="621792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621792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4748B"/>
                </a:solidFill>
                <a:latin typeface="Bodoni MT" panose="02070603080606020203" pitchFamily="18" charset="0"/>
              </a:rPr>
              <a:t>Addresses: CSAT Below 70, Complaint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4937759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Bodoni MT" panose="02070603080606020203" pitchFamily="18" charset="0"/>
              </a:rPr>
              <a:t>Monthly NPS Pulse After Every Order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0" y="5328492"/>
            <a:ext cx="56052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Replace periodic CSAT surveys with a simple 1-question NPS prompt post-delivery. This creates a real-time feedback loop. When CSAT drops in a city, you know within days </a:t>
            </a:r>
            <a:r>
              <a:rPr lang="en-IN"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and</a:t>
            </a:r>
            <a:r>
              <a:rPr sz="1400" b="0" i="0" dirty="0">
                <a:solidFill>
                  <a:srgbClr val="64748B"/>
                </a:solidFill>
                <a:latin typeface="Bodoni MT" panose="02070603080606020203" pitchFamily="18" charset="0"/>
              </a:rPr>
              <a:t> not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PRIORITY ACTION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55"/>
                </a:solidFill>
                <a:latin typeface="Calibri"/>
              </a:rPr>
              <a:t>Do this now vs. plan for later — ranked by impact and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EDED"/>
          </a:solidFill>
          <a:ln w="1016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5943600" cy="5303520"/>
          </a:xfrm>
          <a:prstGeom prst="rect">
            <a:avLst/>
          </a:prstGeom>
          <a:solidFill>
            <a:srgbClr val="FEF9C3"/>
          </a:solidFill>
          <a:ln w="1016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53E3E"/>
                </a:solidFill>
                <a:latin typeface="Bodoni MT" panose="02070603080606020203" pitchFamily="18" charset="0"/>
              </a:rPr>
              <a:t> DO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4937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Bodoni MT" panose="02070603080606020203" pitchFamily="18" charset="0"/>
              </a:rPr>
              <a:t>High Impact · Low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188720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924000"/>
                </a:solidFill>
                <a:latin typeface="Bodoni MT" panose="02070603080606020203" pitchFamily="18" charset="0"/>
              </a:rPr>
              <a:t>  PLAN &amp; INVEST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Bodoni MT" panose="02070603080606020203" pitchFamily="18" charset="0"/>
              </a:rPr>
              <a:t>High Impact · Needs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013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1B2A"/>
                </a:solidFill>
                <a:latin typeface="Bodoni MT" panose="02070603080606020203" pitchFamily="18" charset="0"/>
              </a:rPr>
              <a:t>✓  Launch app stability sprint </a:t>
            </a:r>
            <a:r>
              <a:rPr lang="en-IN" sz="1400" b="0" i="0" dirty="0">
                <a:solidFill>
                  <a:srgbClr val="0D1B2A"/>
                </a:solidFill>
                <a:latin typeface="Bodoni MT" panose="02070603080606020203" pitchFamily="18" charset="0"/>
              </a:rPr>
              <a:t>for</a:t>
            </a:r>
            <a:r>
              <a:rPr sz="1400" b="0" i="0" dirty="0">
                <a:solidFill>
                  <a:srgbClr val="0D1B2A"/>
                </a:solidFill>
                <a:latin typeface="Bodoni MT" panose="02070603080606020203" pitchFamily="18" charset="0"/>
              </a:rPr>
              <a:t> 2 weeks, zero new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8021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Bodoni MT" panose="02070603080606020203" pitchFamily="18" charset="0"/>
              </a:rPr>
              <a:t>✓  Add packing QR scan before bag seal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029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Bodoni MT" panose="02070603080606020203" pitchFamily="18" charset="0"/>
              </a:rPr>
              <a:t>✓  Show real ETA at checkout, not best-case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037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Bodoni MT" panose="02070603080606020203" pitchFamily="18" charset="0"/>
              </a:rPr>
              <a:t>✓  Send Win-Back push to 'At Risk' 15%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045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Bodoni MT" panose="02070603080606020203" pitchFamily="18" charset="0"/>
              </a:rPr>
              <a:t>✓  Post-delivery NPS prompt within 30 min of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0138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3500"/>
                </a:solidFill>
                <a:latin typeface="Bodoni MT" panose="02070603080606020203" pitchFamily="18" charset="0"/>
              </a:rPr>
              <a:t>→  City-specific dark store placement review (Jaipur priority)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80217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3500"/>
                </a:solidFill>
                <a:latin typeface="Bodoni MT" panose="02070603080606020203" pitchFamily="18" charset="0"/>
              </a:rPr>
              <a:t>→  Hire dedicated CX ops lead per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20298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3500"/>
                </a:solidFill>
                <a:latin typeface="Bodoni MT" panose="02070603080606020203" pitchFamily="18" charset="0"/>
              </a:rPr>
              <a:t>→  Build ML-based delivery time predictor per city/time-slot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060378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3500"/>
                </a:solidFill>
                <a:latin typeface="Bodoni MT" panose="02070603080606020203" pitchFamily="18" charset="0"/>
              </a:rPr>
              <a:t>→  Loyalty program for Highly Active 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700457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3500"/>
                </a:solidFill>
                <a:latin typeface="Bodoni MT" panose="02070603080606020203" pitchFamily="18" charset="0"/>
              </a:rPr>
              <a:t>→  Category-specific SLA: Baby Care = guaranteed 20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365760" y="848827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  <a:latin typeface="Bodoni MT" panose="02070603080606020203" pitchFamily="18" charset="0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8412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This business has real speed and real revenue</a:t>
            </a:r>
            <a:r>
              <a:rPr lang="en-IN"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, the </a:t>
            </a:r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two things that take years to build.
But it's losing customers faster than it's winning them. The </a:t>
            </a:r>
            <a:r>
              <a:rPr sz="1600" b="1" i="0" dirty="0">
                <a:solidFill>
                  <a:srgbClr val="CCDDEE"/>
                </a:solidFill>
                <a:latin typeface="Bodoni MT" panose="02070603080606020203" pitchFamily="18" charset="0"/>
              </a:rPr>
              <a:t>66%</a:t>
            </a:r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 churn rate, </a:t>
            </a:r>
            <a:r>
              <a:rPr sz="1600" b="1" i="0" dirty="0">
                <a:solidFill>
                  <a:srgbClr val="CCDDEE"/>
                </a:solidFill>
                <a:latin typeface="Bodoni MT" panose="02070603080606020203" pitchFamily="18" charset="0"/>
              </a:rPr>
              <a:t>26%</a:t>
            </a:r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 complaint rate, and </a:t>
            </a:r>
            <a:r>
              <a:rPr sz="1600" b="1" i="0" dirty="0">
                <a:solidFill>
                  <a:srgbClr val="CCDDEE"/>
                </a:solidFill>
                <a:latin typeface="Bodoni MT" panose="02070603080606020203" pitchFamily="18" charset="0"/>
              </a:rPr>
              <a:t>42%</a:t>
            </a:r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 on-time delivery are all symptoms of the same root problem: execution doesn't match the promise.
The good news? None of these are unsolvable. The app, the packing process, the delivery promise </a:t>
            </a:r>
            <a:r>
              <a:rPr lang="en-IN"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all</a:t>
            </a:r>
            <a:r>
              <a:rPr sz="1600" b="0" i="0" dirty="0">
                <a:solidFill>
                  <a:srgbClr val="CCDDEE"/>
                </a:solidFill>
                <a:latin typeface="Bodoni MT" panose="02070603080606020203" pitchFamily="18" charset="0"/>
              </a:rPr>
              <a:t> these are operational fixes, not strategic pivots. The infrastructure exists. It just needs to be made reliable.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029200"/>
            <a:ext cx="3566160" cy="137160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A623"/>
                </a:solidFill>
                <a:latin typeface="Bodoni MT" panose="02070603080606020203" pitchFamily="18" charset="0"/>
              </a:rPr>
              <a:t>Speed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Bodoni MT" panose="02070603080606020203" pitchFamily="18" charset="0"/>
              </a:rPr>
              <a:t>You have it. Now make it consistent.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029200"/>
            <a:ext cx="3566160" cy="137160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512064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A623"/>
                </a:solidFill>
                <a:latin typeface="Bodoni MT" panose="02070603080606020203" pitchFamily="18" charset="0"/>
              </a:rPr>
              <a:t>Trust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Bodoni MT" panose="02070603080606020203" pitchFamily="18" charset="0"/>
              </a:rPr>
              <a:t>Rebuild it through reliability, not campaigns.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029200"/>
            <a:ext cx="3566160" cy="137160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512064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A623"/>
                </a:solidFill>
                <a:latin typeface="Bodoni MT" panose="02070603080606020203" pitchFamily="18" charset="0"/>
              </a:rPr>
              <a:t>Retention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57784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Bodoni MT" panose="02070603080606020203" pitchFamily="18" charset="0"/>
              </a:rPr>
              <a:t>Costs 7x less than acquisition. Prioritize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1596</Words>
  <Application>Microsoft Office PowerPoint</Application>
  <PresentationFormat>Custom</PresentationFormat>
  <Paragraphs>135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Bodoni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Karan Kapoor</cp:lastModifiedBy>
  <cp:revision>5</cp:revision>
  <dcterms:created xsi:type="dcterms:W3CDTF">2013-01-27T09:14:16Z</dcterms:created>
  <dcterms:modified xsi:type="dcterms:W3CDTF">2026-05-07T03:15:19Z</dcterms:modified>
  <cp:category/>
</cp:coreProperties>
</file>